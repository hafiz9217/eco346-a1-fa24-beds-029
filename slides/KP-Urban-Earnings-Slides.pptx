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message: this is not a story of everyone getting richer at the same rate. It is a rising average with a wide spread around it. The deck uses only the KP Urban filter from the R and Python scripts: prov_code=1, urban_rural=2, ages 15-64, positive earnings, positive household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histogram: log10 bins from 4 to 7 in steps of 0.1, weighted by hhweight. One observation falls outside the Rs 10,000–10,000,000 display range. The weighted median is Rs 240,000; the weighted mean is higher, Rs 323,302, because the right tail pulls the mean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Q3: weighted means by five-year band. Peak is 55-59 at Rs 461,593. For the required comparison, 25-29 is Rs 289,679 and 45-49 is Rs 361,264. The 60-64 mean is Rs 203,724 on n=15 and is flagged low_count in the R code, so treat the drop as uncertain, not as a proven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Q4A is the default ggplot geom_point with no scale, colour or transparency choices. Q4B redesigns it with a log10 y-axis, alpha transparency, jitter and a minimal theme. The lesson is general: a default is a choice too, and for skewed earnings it is usually the wrong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guardrail before the numbers. The chart shows association across age bands in a cross-section, not the lifetime path of one person, and it does not control for education, occupation or hours. The R and Python age-band tables match exactly, including 15-19 Rs 152,102 and 55-59 Rs 461,593.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 data, all verified by re-running the filter on the supplied CSVs: n=678; weighted population 167,869; weighted median Rs 240,000 (unweighted median also Rs 240,000); weighted mean Rs 323,302; P10 Rs 108,000; P90 Rs 588,000; P90/median 2.45. Age-band means are in the bar chart; 60-64 is Rs 203,724 on n=15. Shares below Rs 200,000 (38.1%) and at/above Rs 500,000 (13.4%) are weighted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E7C7B"/>
                </a:solidFill>
                <a:latin typeface="Calibri"/>
              </a:defRPr>
            </a:pPr>
            <a:r>
              <a:t>KP URBAN  •  PSLM  •  WORKING AGES 15–64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0F2A44"/>
                </a:solidFill>
                <a:latin typeface="Calibri"/>
              </a:defRPr>
            </a:pPr>
            <a:r>
              <a:t>Earnings rise with age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0F2A44"/>
                </a:solidFill>
                <a:latin typeface="Calibri"/>
              </a:defRPr>
            </a:pPr>
            <a:r>
              <a:t>but most stay near the middle.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5B6775"/>
                </a:solidFill>
                <a:latin typeface="Calibri"/>
              </a:defRPr>
            </a:pPr>
            <a:r>
              <a:t>A clear age pattern, a wide spread, and one design lesson: the scale you choose changes the story you see.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461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109728" cy="26060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  <a:r>
              <a:t>Who counts?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THE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Urban workers in KP, aged 15–64, with positive annual earnings. Each person counts by household weight — not one vote 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2461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246120"/>
            <a:ext cx="109728" cy="260604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  <a:r>
              <a:t>What rises?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2335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44E52"/>
                </a:solidFill>
                <a:latin typeface="Calibri"/>
              </a:defRPr>
            </a:pPr>
            <a:r>
              <a:t>THE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Average earnings climb from the late teens into the late fifties, then the oldest band falls back — on a very small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24612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246120"/>
            <a:ext cx="109728" cy="2606040"/>
          </a:xfrm>
          <a:prstGeom prst="rect">
            <a:avLst/>
          </a:prstGeom>
          <a:solidFill>
            <a:srgbClr val="E9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4290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  <a:r>
              <a:t>What misleads?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2335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E9A426"/>
                </a:solidFill>
                <a:latin typeface="Calibri"/>
              </a:defRPr>
            </a:pPr>
            <a:r>
              <a:t>THE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On a plain linear scale, a few high earners squash everyone else to the bottom. A log scale lets the whole distribution breathe.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E7C7B"/>
                </a:solidFill>
                <a:latin typeface="Calibri"/>
              </a:defRPr>
            </a:pPr>
            <a:r>
              <a:t>No raw data tables on the main slides — the numbers are gathered, at a glance, on the final infographic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1  •  THE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0F2A44"/>
                </a:solidFill>
                <a:latin typeface="Calibri"/>
              </a:defRPr>
            </a:pPr>
            <a:r>
              <a:t>Most workers cluster in the middle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5B6775"/>
                </a:solidFill>
                <a:latin typeface="Calibri"/>
              </a:defRPr>
            </a:pPr>
            <a:r>
              <a:t>Weighted histogram  •  A long tail to the right  •  Log scale: Rs 10,000 to Rs 10,000,000 in one picture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92840" y="6263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B6775"/>
                </a:solidFill>
                <a:latin typeface="Calibri"/>
              </a:defRPr>
            </a:pPr>
            <a:r>
              <a:t>PSLM  •  KP Urban  •  Ages 15–64  •  Positive annual earnings, weighted by household weight</a:t>
            </a:r>
          </a:p>
        </p:txBody>
      </p:sp>
      <p:pic>
        <p:nvPicPr>
          <p:cNvPr id="9" name="Picture 8" descr="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758952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1965960"/>
            <a:ext cx="3154680" cy="4160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READ IT LIKE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0604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The hump is the story. </a:t>
            </a:r>
            <a:r>
              <a:rPr sz="1600">
                <a:solidFill>
                  <a:srgbClr val="0F2A44"/>
                </a:solidFill>
                <a:latin typeface="Calibri"/>
              </a:rPr>
              <a:t>Tallest bars: a few hundred thousand rupees.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The tail matters. </a:t>
            </a:r>
            <a:r>
              <a:rPr sz="1600">
                <a:solidFill>
                  <a:srgbClr val="0F2A44"/>
                </a:solidFill>
                <a:latin typeface="Calibri"/>
              </a:rPr>
              <a:t>A thinner stretch passes Rs 1 million.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Log scale, plainly: </a:t>
            </a:r>
            <a:r>
              <a:rPr sz="1600">
                <a:solidFill>
                  <a:srgbClr val="0F2A44"/>
                </a:solidFill>
                <a:latin typeface="Calibri"/>
              </a:rPr>
              <a:t>Each big step multiplies earnings.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2  •  EARNINGS BY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0F2A44"/>
                </a:solidFill>
                <a:latin typeface="Calibri"/>
              </a:defRPr>
            </a:pPr>
            <a:r>
              <a:t>The average climbs — then the last band drops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5B6775"/>
                </a:solidFill>
                <a:latin typeface="Calibri"/>
              </a:defRPr>
            </a:pPr>
            <a:r>
              <a:t>Red line: weighted mean in each five-year age band  •  Grey dots: individual earners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92840" y="6263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B6775"/>
                </a:solidFill>
                <a:latin typeface="Calibri"/>
              </a:defRPr>
            </a:pPr>
            <a:r>
              <a:t>PSLM  •  KP Urban  •  Ages 15–64  •  Positive annual earnings, weighted by household weight</a:t>
            </a:r>
          </a:p>
        </p:txBody>
      </p:sp>
      <p:pic>
        <p:nvPicPr>
          <p:cNvPr id="9" name="Picture 8" descr="ag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758952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1965960"/>
            <a:ext cx="3154680" cy="41605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44E52"/>
                </a:solidFill>
                <a:latin typeface="Calibri"/>
              </a:defRPr>
            </a:pPr>
            <a:r>
              <a:t>THREE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06040"/>
            <a:ext cx="265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Up early. </a:t>
            </a:r>
            <a:r>
              <a:rPr sz="1600">
                <a:solidFill>
                  <a:srgbClr val="0F2A44"/>
                </a:solidFill>
                <a:latin typeface="Calibri"/>
              </a:rPr>
              <a:t>Rises steadily from the teens into the thirties.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Flat, then up again. </a:t>
            </a:r>
            <a:r>
              <a:rPr sz="1600">
                <a:solidFill>
                  <a:srgbClr val="0F2A44"/>
                </a:solidFill>
                <a:latin typeface="Calibri"/>
              </a:rPr>
              <a:t>A plateau in the forties, then a jump in the fifties.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0E7C7B"/>
                </a:solidFill>
                <a:latin typeface="Calibri"/>
              </a:rPr>
              <a:t>▸  </a:t>
            </a:r>
            <a:r>
              <a:rPr sz="1600" b="1">
                <a:solidFill>
                  <a:srgbClr val="0F2A44"/>
                </a:solidFill>
                <a:latin typeface="Calibri"/>
              </a:rPr>
              <a:t>Do not over-read the end. </a:t>
            </a:r>
            <a:r>
              <a:rPr sz="1600">
                <a:solidFill>
                  <a:srgbClr val="0F2A44"/>
                </a:solidFill>
                <a:latin typeface="Calibri"/>
              </a:rPr>
              <a:t>The 60–64 drop rests on only 15 people.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3  •  DEFAULT VS. REDESIGNED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0F2A44"/>
                </a:solidFill>
                <a:latin typeface="Calibri"/>
              </a:defRPr>
            </a:pPr>
            <a:r>
              <a:t>Same data, a different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5B6775"/>
                </a:solidFill>
                <a:latin typeface="Calibri"/>
              </a:defRPr>
            </a:pPr>
            <a:r>
              <a:t>Q4: what a default scatter hides, and what three small fixes reveal — the design changed the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92840" y="6263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B6775"/>
                </a:solidFill>
                <a:latin typeface="Calibri"/>
              </a:defRPr>
            </a:pPr>
            <a:r>
              <a:t>PSLM  •  KP Urban  •  Ages 15–64  •  Positive annual earnings, weighted by household weight</a:t>
            </a:r>
          </a:p>
        </p:txBody>
      </p:sp>
      <p:pic>
        <p:nvPicPr>
          <p:cNvPr id="9" name="Picture 8" descr="default_vs_rede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11018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56235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9728" cy="777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6720840"/>
            <a:ext cx="2971800" cy="-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2A44"/>
                </a:solidFill>
                <a:latin typeface="Calibri"/>
              </a:defRPr>
            </a:pPr>
            <a:r>
              <a:t>1  •  LOG SCALE  —  low earners get room to be seen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2A44"/>
                </a:solidFill>
                <a:latin typeface="Calibri"/>
              </a:defRPr>
            </a:pPr>
            <a:r>
              <a:t>2  •  FAINT POINTS  —  overlap stops hiding the crowd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2A44"/>
                </a:solidFill>
                <a:latin typeface="Calibri"/>
              </a:defRPr>
            </a:pPr>
            <a:r>
              <a:t>3  •  DIRECT LABELS  —  the eye lands on the 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6235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562356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2A44"/>
                </a:solidFill>
                <a:latin typeface="Calibri"/>
              </a:defRPr>
            </a:pPr>
            <a:r>
              <a:t>2  •  FAINT POINTS  —  overlap stops hiding the crowd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2A44"/>
                </a:solidFill>
                <a:latin typeface="Calibri"/>
              </a:defRPr>
            </a:pPr>
            <a:r>
              <a:t>3  •  DIRECT LABELS  —  the eye lands on the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4  •  READ IT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0F2A44"/>
                </a:solidFill>
                <a:latin typeface="Calibri"/>
              </a:defRPr>
            </a:pPr>
            <a:r>
              <a:t>What this evidence can — and cannot —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5B6775"/>
                </a:solidFill>
                <a:latin typeface="Calibri"/>
              </a:defRPr>
            </a:pPr>
            <a:r>
              <a:t>Four cautions that keep a good chart honest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92840" y="6263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B6775"/>
                </a:solidFill>
                <a:latin typeface="Calibri"/>
              </a:defRPr>
            </a:pPr>
            <a:r>
              <a:t>PSLM  •  KP Urban  •  Ages 15–64  •  Positive annual earnings, weighted by household weight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2670048" cy="12801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WEIGHTED,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NOT COUNTED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Each surveyed earner stands in for many similar workers. Unweighted counts describe the sample, not KP Urban.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9659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965960"/>
            <a:ext cx="2670048" cy="128016"/>
          </a:xfrm>
          <a:prstGeom prst="rect">
            <a:avLst/>
          </a:prstGeom>
          <a:solidFill>
            <a:srgbClr val="E9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28600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LOG, NOT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2918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On a log axis, equal gaps mean equal multiples. A move from Rs 100k to 200k looks like 200k to 400k — by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9659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1965960"/>
            <a:ext cx="2670048" cy="128016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28600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SMALL BANDS,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FRAGILE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2918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Bands with few people swing easily. The 60–64 band (n = 15) is flagged, not hidden.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9659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965960"/>
            <a:ext cx="2670048" cy="128016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228600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CHECKED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F2A44"/>
                </a:solidFill>
                <a:latin typeface="Calibri"/>
              </a:defRPr>
            </a:pPr>
            <a:r>
              <a:t>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2918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5B6775"/>
                </a:solidFill>
                <a:latin typeface="Calibri"/>
              </a:defRPr>
            </a:pPr>
            <a:r>
              <a:t>The same age-band means come out of the R script and the Python reproduction — a useful cross-check, not a new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468112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961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Bottom line:  age is associated with higher average earnings — but age alone does not explain the wide spread at every 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64592" cy="6766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E7C7B"/>
                </a:solidFill>
                <a:latin typeface="Calibri"/>
              </a:defRPr>
            </a:pPr>
            <a:r>
              <a:t>INFOGRAPHIC  •  ALL THE NUMBERS,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0F2A44"/>
                </a:solidFill>
                <a:latin typeface="Calibri"/>
              </a:defRPr>
            </a:pPr>
            <a:r>
              <a:t>KP Urban earnings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07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5B6775"/>
                </a:solidFill>
                <a:latin typeface="Calibri"/>
              </a:defRPr>
            </a:pPr>
            <a:r>
              <a:t>Ages 15–64  •  Positive annual earnings  •  Weighted by household 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21408" cy="16002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121408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  <a:r>
              <a:t>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1635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surveyed earners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in the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874519"/>
            <a:ext cx="2121408" cy="16002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1874519"/>
            <a:ext cx="2121408" cy="1097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031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F2A44"/>
                </a:solidFill>
                <a:latin typeface="Calibri"/>
              </a:defRPr>
            </a:pPr>
            <a:r>
              <a:t>167,869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81635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weighted people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represented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874519"/>
            <a:ext cx="2121408" cy="16002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11496" y="1874519"/>
            <a:ext cx="2121408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1031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F2A44"/>
                </a:solidFill>
                <a:latin typeface="Calibri"/>
              </a:defRPr>
            </a:pPr>
            <a:r>
              <a:t>Rs 240,000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81635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weighted median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(typical earner)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874519"/>
            <a:ext cx="2121408" cy="16002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874519"/>
            <a:ext cx="2121408" cy="1097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031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F2A44"/>
                </a:solidFill>
                <a:latin typeface="Calibri"/>
              </a:defRPr>
            </a:pPr>
            <a:r>
              <a:t>Rs 323,302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81635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weighted mean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above the median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28632" y="1874519"/>
            <a:ext cx="2121408" cy="16002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28632" y="1874519"/>
            <a:ext cx="2121408" cy="109728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21031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F2A44"/>
                </a:solidFill>
                <a:latin typeface="Calibri"/>
              </a:defRPr>
            </a:pPr>
            <a:r>
              <a:t>Rs 108,000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F2A44"/>
                </a:solidFill>
                <a:latin typeface="Calibri"/>
              </a:defRPr>
            </a:pPr>
            <a:r>
              <a:t>Rs 588,000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81635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P10 → P90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B6775"/>
                </a:solidFill>
                <a:latin typeface="Calibri"/>
              </a:defRPr>
            </a:pPr>
            <a:r>
              <a:t>2.45× the median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F2A44"/>
                </a:solidFill>
                <a:latin typeface="Calibri"/>
              </a:defRPr>
            </a:pPr>
            <a:r>
              <a:t>Weighted mean by age band (rupees)</a:t>
            </a:r>
          </a:p>
        </p:txBody>
      </p:sp>
      <p:pic>
        <p:nvPicPr>
          <p:cNvPr id="28" name="Picture 27" descr="ag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31920"/>
            <a:ext cx="6035040" cy="24688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903720" y="3566160"/>
            <a:ext cx="4709160" cy="28346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44E52"/>
                </a:solidFill>
                <a:latin typeface="Calibri"/>
              </a:defRPr>
            </a:pPr>
            <a:r>
              <a:t>TWO AGES, SIDE BY SIDE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023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F2A44"/>
                </a:solidFill>
                <a:latin typeface="Calibri"/>
              </a:defRPr>
            </a:pPr>
            <a:r>
              <a:t>25–29: Rs 289,679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F2A44"/>
                </a:solidFill>
                <a:latin typeface="Calibri"/>
              </a:defRPr>
            </a:pPr>
            <a:r>
              <a:t>45–49: Rs 361,264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709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0F2A44"/>
                </a:solidFill>
                <a:latin typeface="Calibri"/>
              </a:defRPr>
            </a:pPr>
            <a:r>
              <a:t>Peak band: 55–59 • Rs 461,593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1206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5B6775"/>
                </a:solidFill>
                <a:latin typeface="Calibri"/>
              </a:defRPr>
            </a:pPr>
            <a:r>
              <a:t>About 38% of weighted earners are below Rs 200,000.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5B6775"/>
                </a:solidFill>
                <a:latin typeface="Calibri"/>
              </a:defRPr>
            </a:pPr>
            <a:r>
              <a:t>About 13% are at or above Rs 500,000.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943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C44E52"/>
                </a:solidFill>
                <a:latin typeface="Calibri"/>
              </a:defRPr>
            </a:pPr>
            <a:r>
              <a:t>Caution: 60–64 mean is only 15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B6775"/>
                </a:solidFill>
                <a:latin typeface="Calibri"/>
              </a:defRPr>
            </a:pPr>
            <a:r>
              <a:t>ECO346 Assignment 1  •  Variant 5 — KP Urban  •  Methods: R (01_analysis.R) and Python (q5_reproduction.py) give the same age-band means.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Earnings in KP Urban — PSLM</dc:title>
  <dc:subject>ECO346 Assignment 1, Variant 5: KP Urban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